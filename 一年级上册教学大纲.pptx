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6B149E-29B1-21E4-2718-E381AFC68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F9A6BB8-6B9E-6A35-3C7B-7952DCE90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5A1756-5A5E-0EE7-450B-FF81DD5B9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1C5C-1FD4-4D2C-81AC-0930C8B2F4A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884B23-9D52-2EE6-F748-5F43B096D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1A7420-45A1-E851-802D-B1E00B880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280A-B915-4A22-A13E-42D11A1D3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08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3455CE-713E-41D9-E057-88DEC19D7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23F804-4FBF-14CF-F4E2-6EE80136F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FCB7EA-C234-CEA3-253E-48CA444A7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1C5C-1FD4-4D2C-81AC-0930C8B2F4A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352CBD-726B-E6E1-B9AB-D6ACBFCD7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438977-5CB2-BCE9-9028-AE9176BE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280A-B915-4A22-A13E-42D11A1D3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272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CAA12-AE59-B5A0-335B-A56FF5007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AA51AC-3B74-C578-AEE5-FC97D5F89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78BACA-9AFE-C13E-F67D-6E2E4AC11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1C5C-1FD4-4D2C-81AC-0930C8B2F4A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9C0C0-38C2-DD94-79DE-9C7DE8A5C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D4271E-2AB2-A130-0579-67F825243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280A-B915-4A22-A13E-42D11A1D3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920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40644-4797-076A-5957-6F9BF850C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973705-3DBF-78E5-95A6-B4DA8E832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B71389-BA76-DB4B-A926-F40FB4C7E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9B20A3-E3BF-DA50-6FE5-3747F7DE5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1C5C-1FD4-4D2C-81AC-0930C8B2F4A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47AE24-A413-3792-8E69-76A46A06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85809F-9115-B135-4690-2760458C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280A-B915-4A22-A13E-42D11A1D3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341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40427D-FA9B-7934-00FF-D7390C8D9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3BBCB9-F006-8867-4838-9D79C0852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E49AF6-FDA2-4CD3-9AB9-318002BF2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63A275C-0388-C203-648B-D7482798A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C68CF5-DACC-2FA5-ECF4-FAE1DE6690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8A8885A-FE1C-3782-28EF-731C8F934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1C5C-1FD4-4D2C-81AC-0930C8B2F4A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B1F45D1-5BEF-0D2F-DEAF-CEEF69F6B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8B688B-8A39-FCF6-5DA5-AA8E5AF4B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280A-B915-4A22-A13E-42D11A1D3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911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C24482-6B4E-088F-CC60-7CBEE6574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95569B-67C1-8DAF-0543-CB6200E1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1C5C-1FD4-4D2C-81AC-0930C8B2F4A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F0D2B7-5096-F85E-DF8A-76E20A03C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4DEDDC-5EFF-C893-1229-A84AAB414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280A-B915-4A22-A13E-42D11A1D3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074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E45538-1A6D-80E8-3954-A1C15DC57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1C5C-1FD4-4D2C-81AC-0930C8B2F4A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4DD458-984B-DD62-13D6-902463B7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E771C7-D616-7236-D345-0F6CBD4AC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280A-B915-4A22-A13E-42D11A1D3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24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B6C60-7546-A1D8-3798-59C7BC323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AD7F8C-56E6-E21C-B22B-0896EC134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E6B980-E857-BBD7-EC75-3BABC46A03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990FE0-71C4-A0BA-7CE1-99F2694ED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1C5C-1FD4-4D2C-81AC-0930C8B2F4A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E514A6-49DA-960C-45D0-201717B1F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31311A-CBFC-888A-4CF8-F866D18E9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280A-B915-4A22-A13E-42D11A1D3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327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F17D7-CB58-8924-1A94-DF4B617A1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C30EF4-17D5-9E93-0552-1659142B6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858E2F-F569-5E45-4662-AB85CB115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9112F0-3C75-7E7F-0CBE-7C4F8CD8D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1C5C-1FD4-4D2C-81AC-0930C8B2F4A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9C79B0-5E70-609E-2670-E4222524D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76F507-963D-C6B8-36BC-6CF5A1E3C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280A-B915-4A22-A13E-42D11A1D3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94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EA953-8D82-B354-60F7-25371DEA2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9D6D93-E4E0-C403-6B7C-CD3E61626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76E655-5179-F494-58EC-F7F9F59BA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1C5C-1FD4-4D2C-81AC-0930C8B2F4A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C25CBB-71C1-3C07-9512-B85E15D0A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2F52F8-B538-FB6A-010B-2ED2A3D7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280A-B915-4A22-A13E-42D11A1D3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093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E645B4F-405C-FC39-ABCC-95F7D86647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28143A-1DDC-9701-3FA7-486BD3EBF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0629F9-4300-8DC0-9756-24A29AA7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1C5C-1FD4-4D2C-81AC-0930C8B2F4A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6F8975-37C6-559A-A856-81EF1B297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DEB8CC-0EA5-4152-1613-677B7607B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E280A-B915-4A22-A13E-42D11A1D3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884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7CE2EE-94BD-C800-5434-DEA70E38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522A01-55CE-82B3-F34D-D42AD4E81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7B47C8-5A6B-4C52-77F0-1E4EA8458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C81C5C-1FD4-4D2C-81AC-0930C8B2F4A5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262D17-56FC-04E8-3884-9C3D0637C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45612E-474B-CAF7-0B73-254AFD201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EE280A-B915-4A22-A13E-42D11A1D3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644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712A8-A9B6-497E-03B1-4E174B234B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/>
              <a:t>人教版（</a:t>
            </a:r>
            <a:r>
              <a:rPr lang="en-US" altLang="zh-CN" sz="3600" b="1"/>
              <a:t>2024</a:t>
            </a:r>
            <a:r>
              <a:rPr lang="zh-CN" altLang="en-US" sz="3600" b="1"/>
              <a:t>版）一年级上册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CD872B-5D27-0A38-CD3E-D4E7927D0D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000"/>
              <a:t>教学大纲
多多 </a:t>
            </a:r>
            <a:r>
              <a:rPr lang="en-US" altLang="zh-CN" sz="2000"/>
              <a:t>· 6</a:t>
            </a:r>
            <a:r>
              <a:rPr lang="zh-CN" altLang="en-US" sz="2000"/>
              <a:t>岁
</a:t>
            </a:r>
            <a:r>
              <a:rPr lang="en-US" altLang="zh-CN" sz="2000"/>
              <a:t>2026</a:t>
            </a:r>
            <a:r>
              <a:rPr lang="zh-CN" altLang="en-US" sz="2000"/>
              <a:t>年</a:t>
            </a:r>
            <a:r>
              <a:rPr lang="en-US" altLang="zh-CN" sz="2000"/>
              <a:t>6</a:t>
            </a:r>
            <a:r>
              <a:rPr lang="zh-CN" altLang="en-US" sz="2000"/>
              <a:t>月更新</a:t>
            </a:r>
          </a:p>
        </p:txBody>
      </p:sp>
    </p:spTree>
    <p:extLst>
      <p:ext uri="{BB962C8B-B14F-4D97-AF65-F5344CB8AC3E}">
        <p14:creationId xmlns:p14="http://schemas.microsoft.com/office/powerpoint/2010/main" val="2711758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4371B6-D928-3C65-95BF-BEF2FC6DF6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2800" b="1"/>
              <a:t>语文 </a:t>
            </a:r>
            <a:r>
              <a:rPr lang="en-US" altLang="zh-CN" sz="2800" b="1"/>
              <a:t>· 13</a:t>
            </a:r>
            <a:r>
              <a:rPr lang="zh-CN" altLang="en-US" sz="2800" b="1"/>
              <a:t>周计划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3FA867-4E07-DBE1-6A0A-16462253EC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3CAC1C2-CF67-C379-9A9D-0EF97BC37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952615"/>
              </p:ext>
            </p:extLst>
          </p:nvPr>
        </p:nvGraphicFramePr>
        <p:xfrm>
          <a:off x="381000" y="1016000"/>
          <a:ext cx="8636000" cy="33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667">
                  <a:extLst>
                    <a:ext uri="{9D8B030D-6E8A-4147-A177-3AD203B41FA5}">
                      <a16:colId xmlns:a16="http://schemas.microsoft.com/office/drawing/2014/main" val="2585121187"/>
                    </a:ext>
                  </a:extLst>
                </a:gridCol>
                <a:gridCol w="2878667">
                  <a:extLst>
                    <a:ext uri="{9D8B030D-6E8A-4147-A177-3AD203B41FA5}">
                      <a16:colId xmlns:a16="http://schemas.microsoft.com/office/drawing/2014/main" val="3500886074"/>
                    </a:ext>
                  </a:extLst>
                </a:gridCol>
                <a:gridCol w="2878667">
                  <a:extLst>
                    <a:ext uri="{9D8B030D-6E8A-4147-A177-3AD203B41FA5}">
                      <a16:colId xmlns:a16="http://schemas.microsoft.com/office/drawing/2014/main" val="22425332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000" b="1"/>
                        <a:t>周次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b="1"/>
                        <a:t>单元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b="1"/>
                        <a:t>重点内容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500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900"/>
                        <a:t>1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入学</a:t>
                      </a:r>
                      <a:r>
                        <a:rPr lang="en-US" altLang="zh-CN" sz="900"/>
                        <a:t>+</a:t>
                      </a:r>
                      <a:r>
                        <a:rPr lang="zh-CN" altLang="en-US" sz="900"/>
                        <a:t>识字</a:t>
                      </a:r>
                      <a:r>
                        <a:rPr lang="en-US" altLang="zh-CN" sz="900"/>
                        <a:t>1-2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天地人 金木水火土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7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900"/>
                        <a:t>2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识字</a:t>
                      </a:r>
                      <a:r>
                        <a:rPr lang="en-US" altLang="zh-CN" sz="900"/>
                        <a:t>3-5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口耳目 日月水火 对韵歌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759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900"/>
                        <a:t>3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拼音</a:t>
                      </a:r>
                      <a:r>
                        <a:rPr lang="en-US" altLang="zh-CN" sz="900"/>
                        <a:t>1-4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altLang="zh-CN" sz="900"/>
                        <a:t>a o e / i u ü / b p m f / d t n l</a:t>
                      </a:r>
                      <a:endParaRPr lang="zh-CN" altLang="en-US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34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900"/>
                        <a:t>4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拼音</a:t>
                      </a:r>
                      <a:r>
                        <a:rPr lang="en-US" altLang="zh-CN" sz="900"/>
                        <a:t>5-9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altLang="zh-CN" sz="900"/>
                        <a:t>g k h / j q x / zh ch sh r / z c s y w</a:t>
                      </a:r>
                      <a:endParaRPr lang="zh-CN" altLang="en-US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570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900"/>
                        <a:t>5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拼音</a:t>
                      </a:r>
                      <a:r>
                        <a:rPr lang="en-US" altLang="zh-CN" sz="900"/>
                        <a:t>10-14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复韵母</a:t>
                      </a:r>
                      <a:r>
                        <a:rPr lang="en-US" altLang="zh-CN" sz="900"/>
                        <a:t>+</a:t>
                      </a:r>
                      <a:r>
                        <a:rPr lang="zh-CN" altLang="en-US" sz="900"/>
                        <a:t>鼻韵母全部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714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900"/>
                        <a:t>6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拼音总复习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全部拼音</a:t>
                      </a:r>
                      <a:r>
                        <a:rPr lang="en-US" altLang="zh-CN" sz="900"/>
                        <a:t>+</a:t>
                      </a:r>
                      <a:r>
                        <a:rPr lang="zh-CN" altLang="en-US" sz="900"/>
                        <a:t>拼读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308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900"/>
                        <a:t>7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课文</a:t>
                      </a:r>
                      <a:r>
                        <a:rPr lang="en-US" altLang="zh-CN" sz="900"/>
                        <a:t>1-2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秋天 </a:t>
                      </a:r>
                      <a:r>
                        <a:rPr lang="en-US" altLang="zh-CN" sz="900"/>
                        <a:t>+ </a:t>
                      </a:r>
                      <a:r>
                        <a:rPr lang="zh-CN" altLang="en-US" sz="900"/>
                        <a:t>小小的船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045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900"/>
                        <a:t>8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课文</a:t>
                      </a:r>
                      <a:r>
                        <a:rPr lang="en-US" altLang="zh-CN" sz="900"/>
                        <a:t>3-4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江南 </a:t>
                      </a:r>
                      <a:r>
                        <a:rPr lang="en-US" altLang="zh-CN" sz="900"/>
                        <a:t>+ </a:t>
                      </a:r>
                      <a:r>
                        <a:rPr lang="zh-CN" altLang="en-US" sz="900"/>
                        <a:t>四季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99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900"/>
                        <a:t>9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识字</a:t>
                      </a:r>
                      <a:r>
                        <a:rPr lang="en-US" altLang="zh-CN" sz="900"/>
                        <a:t>6-8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画 </a:t>
                      </a:r>
                      <a:r>
                        <a:rPr lang="en-US" altLang="zh-CN" sz="900"/>
                        <a:t>/ </a:t>
                      </a:r>
                      <a:r>
                        <a:rPr lang="zh-CN" altLang="en-US" sz="900"/>
                        <a:t>大小多少 </a:t>
                      </a:r>
                      <a:r>
                        <a:rPr lang="en-US" altLang="zh-CN" sz="900"/>
                        <a:t>/ </a:t>
                      </a:r>
                      <a:r>
                        <a:rPr lang="zh-CN" altLang="en-US" sz="900"/>
                        <a:t>小书包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553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900"/>
                        <a:t>10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识字</a:t>
                      </a:r>
                      <a:r>
                        <a:rPr lang="en-US" altLang="zh-CN" sz="900"/>
                        <a:t>9-10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日月明 </a:t>
                      </a:r>
                      <a:r>
                        <a:rPr lang="en-US" altLang="zh-CN" sz="900"/>
                        <a:t>+ </a:t>
                      </a:r>
                      <a:r>
                        <a:rPr lang="zh-CN" altLang="en-US" sz="900"/>
                        <a:t>升国旗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493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900"/>
                        <a:t>11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课文</a:t>
                      </a:r>
                      <a:r>
                        <a:rPr lang="en-US" altLang="zh-CN" sz="900"/>
                        <a:t>5-7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影子 </a:t>
                      </a:r>
                      <a:r>
                        <a:rPr lang="en-US" altLang="zh-CN" sz="900"/>
                        <a:t>/ </a:t>
                      </a:r>
                      <a:r>
                        <a:rPr lang="zh-CN" altLang="en-US" sz="900"/>
                        <a:t>比尾巴 </a:t>
                      </a:r>
                      <a:r>
                        <a:rPr lang="en-US" altLang="zh-CN" sz="900"/>
                        <a:t>/ </a:t>
                      </a:r>
                      <a:r>
                        <a:rPr lang="zh-CN" altLang="en-US" sz="900"/>
                        <a:t>青蛙写诗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674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900"/>
                        <a:t>12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课文</a:t>
                      </a:r>
                      <a:r>
                        <a:rPr lang="en-US" altLang="zh-CN" sz="900"/>
                        <a:t>8-11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雨点儿 </a:t>
                      </a:r>
                      <a:r>
                        <a:rPr lang="en-US" altLang="zh-CN" sz="900"/>
                        <a:t>/ </a:t>
                      </a:r>
                      <a:r>
                        <a:rPr lang="zh-CN" altLang="en-US" sz="900"/>
                        <a:t>明天要远足 </a:t>
                      </a:r>
                      <a:r>
                        <a:rPr lang="en-US" altLang="zh-CN" sz="900"/>
                        <a:t>/ </a:t>
                      </a:r>
                      <a:r>
                        <a:rPr lang="zh-CN" altLang="en-US" sz="900"/>
                        <a:t>大还是小 </a:t>
                      </a:r>
                      <a:r>
                        <a:rPr lang="en-US" altLang="zh-CN" sz="900"/>
                        <a:t>/ </a:t>
                      </a:r>
                      <a:r>
                        <a:rPr lang="zh-CN" altLang="en-US" sz="900"/>
                        <a:t>项链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931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900"/>
                        <a:t>13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课文</a:t>
                      </a:r>
                      <a:r>
                        <a:rPr lang="en-US" altLang="zh-CN" sz="900"/>
                        <a:t>12-14</a:t>
                      </a: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/>
                        <a:t>雪地里小画家 </a:t>
                      </a:r>
                      <a:r>
                        <a:rPr lang="en-US" altLang="zh-CN" sz="900"/>
                        <a:t>/ </a:t>
                      </a:r>
                      <a:r>
                        <a:rPr lang="zh-CN" altLang="en-US" sz="900"/>
                        <a:t>乌鸦喝水 </a:t>
                      </a:r>
                      <a:r>
                        <a:rPr lang="en-US" altLang="zh-CN" sz="900"/>
                        <a:t>/ </a:t>
                      </a:r>
                      <a:r>
                        <a:rPr lang="zh-CN" altLang="en-US" sz="900"/>
                        <a:t>小蜗牛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64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3477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D10D4-892F-AD2A-8E1F-ACE7A52113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2800" b="1"/>
              <a:t>数学 </a:t>
            </a:r>
            <a:r>
              <a:rPr lang="en-US" altLang="zh-CN" sz="2800" b="1"/>
              <a:t>· </a:t>
            </a:r>
            <a:r>
              <a:rPr lang="zh-CN" altLang="en-US" sz="2800" b="1"/>
              <a:t>核心单元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B7359B-A579-44B4-C0BC-81ADFA31A6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0A3856C-31EB-65E2-4CE3-C06BE9E7B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929242"/>
              </p:ext>
            </p:extLst>
          </p:nvPr>
        </p:nvGraphicFramePr>
        <p:xfrm>
          <a:off x="381000" y="1016000"/>
          <a:ext cx="8636000" cy="4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667">
                  <a:extLst>
                    <a:ext uri="{9D8B030D-6E8A-4147-A177-3AD203B41FA5}">
                      <a16:colId xmlns:a16="http://schemas.microsoft.com/office/drawing/2014/main" val="1458664860"/>
                    </a:ext>
                  </a:extLst>
                </a:gridCol>
                <a:gridCol w="2878667">
                  <a:extLst>
                    <a:ext uri="{9D8B030D-6E8A-4147-A177-3AD203B41FA5}">
                      <a16:colId xmlns:a16="http://schemas.microsoft.com/office/drawing/2014/main" val="3960897667"/>
                    </a:ext>
                  </a:extLst>
                </a:gridCol>
                <a:gridCol w="2878667">
                  <a:extLst>
                    <a:ext uri="{9D8B030D-6E8A-4147-A177-3AD203B41FA5}">
                      <a16:colId xmlns:a16="http://schemas.microsoft.com/office/drawing/2014/main" val="18438952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周次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单元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内容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436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100"/>
                        <a:t>1-2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数学游戏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校园寻宝</a:t>
                      </a:r>
                      <a:r>
                        <a:rPr lang="en-US" altLang="zh-CN" sz="1100"/>
                        <a:t>+</a:t>
                      </a:r>
                      <a:r>
                        <a:rPr lang="zh-CN" altLang="en-US" sz="1100"/>
                        <a:t>教室数数</a:t>
                      </a:r>
                      <a:r>
                        <a:rPr lang="en-US" altLang="zh-CN" sz="1100"/>
                        <a:t>+</a:t>
                      </a:r>
                      <a:r>
                        <a:rPr lang="zh-CN" altLang="en-US" sz="1100"/>
                        <a:t>分类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826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100"/>
                        <a:t>3-5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一、</a:t>
                      </a:r>
                      <a:r>
                        <a:rPr lang="en-US" altLang="zh-CN" sz="1100"/>
                        <a:t>5</a:t>
                      </a:r>
                      <a:r>
                        <a:rPr lang="zh-CN" altLang="en-US" sz="1100"/>
                        <a:t>以内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1~5</a:t>
                      </a:r>
                      <a:r>
                        <a:rPr lang="zh-CN" altLang="en-US" sz="1100"/>
                        <a:t>认识</a:t>
                      </a:r>
                      <a:r>
                        <a:rPr lang="en-US" altLang="zh-CN" sz="1100"/>
                        <a:t>+</a:t>
                      </a:r>
                      <a:r>
                        <a:rPr lang="zh-CN" altLang="en-US" sz="1100"/>
                        <a:t>比大小</a:t>
                      </a:r>
                      <a:r>
                        <a:rPr lang="en-US" altLang="zh-CN" sz="1100"/>
                        <a:t>+</a:t>
                      </a:r>
                      <a:r>
                        <a:rPr lang="zh-CN" altLang="en-US" sz="1100"/>
                        <a:t>第几</a:t>
                      </a:r>
                      <a:r>
                        <a:rPr lang="en-US" altLang="zh-CN" sz="1100"/>
                        <a:t>+</a:t>
                      </a:r>
                      <a:r>
                        <a:rPr lang="zh-CN" altLang="en-US" sz="1100"/>
                        <a:t>分与合</a:t>
                      </a:r>
                      <a:r>
                        <a:rPr lang="en-US" altLang="zh-CN" sz="1100"/>
                        <a:t>+</a:t>
                      </a:r>
                      <a:r>
                        <a:rPr lang="zh-CN" altLang="en-US" sz="1100"/>
                        <a:t>加减法</a:t>
                      </a:r>
                      <a:r>
                        <a:rPr lang="en-US" altLang="zh-CN" sz="1100"/>
                        <a:t>+0</a:t>
                      </a:r>
                      <a:endParaRPr lang="zh-CN" alt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429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100"/>
                        <a:t>6-11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二、</a:t>
                      </a:r>
                      <a:r>
                        <a:rPr lang="en-US" altLang="zh-CN" sz="1100"/>
                        <a:t>6~10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6~9</a:t>
                      </a:r>
                      <a:r>
                        <a:rPr lang="zh-CN" altLang="en-US" sz="1100"/>
                        <a:t>认识</a:t>
                      </a:r>
                      <a:r>
                        <a:rPr lang="en-US" altLang="zh-CN" sz="1100"/>
                        <a:t>+</a:t>
                      </a:r>
                      <a:r>
                        <a:rPr lang="zh-CN" altLang="en-US" sz="1100"/>
                        <a:t>分与合</a:t>
                      </a:r>
                      <a:r>
                        <a:rPr lang="en-US" altLang="zh-CN" sz="1100"/>
                        <a:t>+6/7/8/9</a:t>
                      </a:r>
                      <a:r>
                        <a:rPr lang="zh-CN" altLang="en-US" sz="1100"/>
                        <a:t>加减</a:t>
                      </a:r>
                      <a:r>
                        <a:rPr lang="en-US" altLang="zh-CN" sz="1100"/>
                        <a:t>+10</a:t>
                      </a:r>
                      <a:r>
                        <a:rPr lang="zh-CN" altLang="en-US" sz="1100"/>
                        <a:t>认识</a:t>
                      </a:r>
                      <a:r>
                        <a:rPr lang="en-US" altLang="zh-CN" sz="1100"/>
                        <a:t>+</a:t>
                      </a:r>
                      <a:r>
                        <a:rPr lang="zh-CN" altLang="en-US" sz="1100"/>
                        <a:t>连加连减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823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100"/>
                        <a:t>12-13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三、立体图形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长方体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正方体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圆柱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241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100"/>
                        <a:t>14-15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四、</a:t>
                      </a:r>
                      <a:r>
                        <a:rPr lang="en-US" altLang="zh-CN" sz="1100"/>
                        <a:t>11~20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10</a:t>
                      </a:r>
                      <a:r>
                        <a:rPr lang="zh-CN" altLang="en-US" sz="1100"/>
                        <a:t>加几</a:t>
                      </a:r>
                      <a:r>
                        <a:rPr lang="en-US" altLang="zh-CN" sz="1100"/>
                        <a:t>+</a:t>
                      </a:r>
                      <a:r>
                        <a:rPr lang="zh-CN" altLang="en-US" sz="1100"/>
                        <a:t>认识</a:t>
                      </a:r>
                      <a:r>
                        <a:rPr lang="en-US" altLang="zh-CN" sz="1100"/>
                        <a:t>11~20+</a:t>
                      </a:r>
                      <a:r>
                        <a:rPr lang="zh-CN" altLang="en-US" sz="1100"/>
                        <a:t>数位</a:t>
                      </a:r>
                      <a:r>
                        <a:rPr lang="en-US" altLang="zh-CN" sz="1100"/>
                        <a:t>+</a:t>
                      </a:r>
                      <a:r>
                        <a:rPr lang="zh-CN" altLang="en-US" sz="1100"/>
                        <a:t>简单加减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17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100"/>
                        <a:t>16-18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五、进位加法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9/8/7/6/5/4/3/2</a:t>
                      </a:r>
                      <a:r>
                        <a:rPr lang="zh-CN" altLang="en-US" sz="1100"/>
                        <a:t>加几 凑十法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015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100"/>
                        <a:t>19-20</a:t>
                      </a:r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六、总复习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全册回顾</a:t>
                      </a:r>
                      <a:r>
                        <a:rPr lang="en-US" altLang="zh-CN" sz="1100"/>
                        <a:t>+</a:t>
                      </a:r>
                      <a:r>
                        <a:rPr lang="zh-CN" altLang="en-US" sz="1100"/>
                        <a:t>闯关游戏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472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4616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68A885-FA85-114E-B3A2-C7A5A1249A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2800" b="1"/>
              <a:t>数学 </a:t>
            </a:r>
            <a:r>
              <a:rPr lang="en-US" altLang="zh-CN" sz="2800" b="1"/>
              <a:t>· </a:t>
            </a:r>
            <a:r>
              <a:rPr lang="zh-CN" altLang="en-US" sz="2800" b="1"/>
              <a:t>拓展延伸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D8FE1D-2D72-FDAE-21CE-6930061DFF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12B6739-32C9-A60C-B115-678024765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92136"/>
              </p:ext>
            </p:extLst>
          </p:nvPr>
        </p:nvGraphicFramePr>
        <p:xfrm>
          <a:off x="381000" y="1016000"/>
          <a:ext cx="86360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0">
                  <a:extLst>
                    <a:ext uri="{9D8B030D-6E8A-4147-A177-3AD203B41FA5}">
                      <a16:colId xmlns:a16="http://schemas.microsoft.com/office/drawing/2014/main" val="2152556771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11926618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b="1"/>
                        <a:t>周次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/>
                        <a:t>内容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85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/>
                        <a:t>21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20</a:t>
                      </a:r>
                      <a:r>
                        <a:rPr lang="zh-CN" altLang="en-US"/>
                        <a:t>以内退位减法（下册预备）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977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/>
                        <a:t>22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100</a:t>
                      </a:r>
                      <a:r>
                        <a:rPr lang="zh-CN" altLang="en-US"/>
                        <a:t>以内数初步 整十数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882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/>
                        <a:t>23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认识人民币（元角分）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301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/>
                        <a:t>24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认识钟表（整点半点）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38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/>
                        <a:t>25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找规律 图形与数字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167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/>
                        <a:t>26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分类与整理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434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/>
                        <a:t>27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位置（上下前后左右）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582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/>
                        <a:t>28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长度比较 轻重比较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709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/>
                        <a:t>29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图文应用题 解题策略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861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/>
                        <a:t>30-31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上册总复习挑战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547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037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EBCF22-2E08-8B61-C6BC-D8F404B606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2800" b="1"/>
              <a:t>每日学习安排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1276F1-4261-E943-B64D-9DAB8485B5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1CB049-0729-1ED9-E44C-E011BB9EA63C}"/>
              </a:ext>
            </a:extLst>
          </p:cNvPr>
          <p:cNvSpPr txBox="1"/>
          <p:nvPr/>
        </p:nvSpPr>
        <p:spPr>
          <a:xfrm>
            <a:off x="381000" y="1016000"/>
            <a:ext cx="3810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/>
              <a:t>语文
</a:t>
            </a:r>
            <a:r>
              <a:rPr lang="en-US" altLang="zh-CN" sz="1400"/>
              <a:t>· </a:t>
            </a:r>
            <a:r>
              <a:rPr lang="zh-CN" altLang="en-US" sz="1400"/>
              <a:t>跟读拼音</a:t>
            </a:r>
            <a:r>
              <a:rPr lang="en-US" altLang="zh-CN" sz="1400"/>
              <a:t>/</a:t>
            </a:r>
            <a:r>
              <a:rPr lang="zh-CN" altLang="en-US" sz="1400"/>
              <a:t>识字 </a:t>
            </a:r>
            <a:r>
              <a:rPr lang="en-US" altLang="zh-CN" sz="1400"/>
              <a:t>5min
· </a:t>
            </a:r>
            <a:r>
              <a:rPr lang="zh-CN" altLang="en-US" sz="1400"/>
              <a:t>汉字认读</a:t>
            </a:r>
            <a:r>
              <a:rPr lang="en-US" altLang="zh-CN" sz="1400"/>
              <a:t>+</a:t>
            </a:r>
            <a:r>
              <a:rPr lang="zh-CN" altLang="en-US" sz="1400"/>
              <a:t>描红 </a:t>
            </a:r>
            <a:r>
              <a:rPr lang="en-US" altLang="zh-CN" sz="1400"/>
              <a:t>5min
· </a:t>
            </a:r>
            <a:r>
              <a:rPr lang="zh-CN" altLang="en-US" sz="1400"/>
              <a:t>读古诗 </a:t>
            </a:r>
            <a:r>
              <a:rPr lang="en-US" altLang="zh-CN" sz="1400"/>
              <a:t>3min
· </a:t>
            </a:r>
            <a:r>
              <a:rPr lang="zh-CN" altLang="en-US" sz="1400"/>
              <a:t>在家找字 </a:t>
            </a:r>
            <a:r>
              <a:rPr lang="en-US" altLang="zh-CN" sz="1400"/>
              <a:t>2min</a:t>
            </a:r>
            <a:endParaRPr lang="zh-CN" altLang="en-US" sz="14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A995D2-38D5-4070-2FD2-579872FBC51D}"/>
              </a:ext>
            </a:extLst>
          </p:cNvPr>
          <p:cNvSpPr txBox="1"/>
          <p:nvPr/>
        </p:nvSpPr>
        <p:spPr>
          <a:xfrm>
            <a:off x="4826000" y="1016000"/>
            <a:ext cx="3810000" cy="116955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/>
              <a:t>数学
</a:t>
            </a:r>
            <a:r>
              <a:rPr lang="en-US" altLang="zh-CN" sz="1400"/>
              <a:t>· </a:t>
            </a:r>
            <a:r>
              <a:rPr lang="zh-CN" altLang="en-US" sz="1400"/>
              <a:t>数感</a:t>
            </a:r>
            <a:r>
              <a:rPr lang="en-US" altLang="zh-CN" sz="1400"/>
              <a:t>/</a:t>
            </a:r>
            <a:r>
              <a:rPr lang="zh-CN" altLang="en-US" sz="1400"/>
              <a:t>计算练习 </a:t>
            </a:r>
            <a:r>
              <a:rPr lang="en-US" altLang="zh-CN" sz="1400"/>
              <a:t>5min
· </a:t>
            </a:r>
            <a:r>
              <a:rPr lang="zh-CN" altLang="en-US" sz="1400"/>
              <a:t>游戏化活动 </a:t>
            </a:r>
            <a:r>
              <a:rPr lang="en-US" altLang="zh-CN" sz="1400"/>
              <a:t>5min
· </a:t>
            </a:r>
            <a:r>
              <a:rPr lang="zh-CN" altLang="en-US" sz="1400"/>
              <a:t>练习纸 </a:t>
            </a:r>
            <a:r>
              <a:rPr lang="en-US" altLang="zh-CN" sz="1400"/>
              <a:t>5min</a:t>
            </a:r>
            <a:endParaRPr lang="zh-CN" altLang="en-US"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FD1494-6FB6-FBEF-171D-0AA54EBFFDA7}"/>
              </a:ext>
            </a:extLst>
          </p:cNvPr>
          <p:cNvSpPr txBox="1"/>
          <p:nvPr/>
        </p:nvSpPr>
        <p:spPr>
          <a:xfrm>
            <a:off x="381000" y="4064000"/>
            <a:ext cx="8636000" cy="9541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/>
              <a:t>温馨提示
</a:t>
            </a:r>
            <a:r>
              <a:rPr lang="en-US" altLang="zh-CN" sz="1400"/>
              <a:t>· </a:t>
            </a:r>
            <a:r>
              <a:rPr lang="zh-CN" altLang="en-US" sz="1400"/>
              <a:t>每天轮流语文和数学，隔天交替
</a:t>
            </a:r>
            <a:r>
              <a:rPr lang="en-US" altLang="zh-CN" sz="1400"/>
              <a:t>· </a:t>
            </a:r>
            <a:r>
              <a:rPr lang="zh-CN" altLang="en-US" sz="1400"/>
              <a:t>周六日做综合复习或游戏
</a:t>
            </a:r>
            <a:r>
              <a:rPr lang="en-US" altLang="zh-CN" sz="1400"/>
              <a:t>· </a:t>
            </a:r>
            <a:r>
              <a:rPr lang="zh-CN" altLang="en-US" sz="1400"/>
              <a:t>保持</a:t>
            </a:r>
            <a:r>
              <a:rPr lang="en-US" altLang="zh-CN" sz="1400"/>
              <a:t>15-20</a:t>
            </a:r>
            <a:r>
              <a:rPr lang="zh-CN" altLang="en-US" sz="1400"/>
              <a:t>分钟，不要超时</a:t>
            </a:r>
          </a:p>
        </p:txBody>
      </p:sp>
    </p:spTree>
    <p:extLst>
      <p:ext uri="{BB962C8B-B14F-4D97-AF65-F5344CB8AC3E}">
        <p14:creationId xmlns:p14="http://schemas.microsoft.com/office/powerpoint/2010/main" val="253179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40AD19-BD66-79F9-4903-65A4214FD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/>
              <a:t>每天进步一点点！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67A3B1-1DF5-6E4E-A6E9-BA20C96FF8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000"/>
              <a:t>目标：</a:t>
            </a:r>
            <a:r>
              <a:rPr lang="en-US" altLang="zh-CN" sz="2000"/>
              <a:t>9</a:t>
            </a:r>
            <a:r>
              <a:rPr lang="zh-CN" altLang="en-US" sz="2000"/>
              <a:t>月入学前掌握拼音</a:t>
            </a:r>
            <a:r>
              <a:rPr lang="en-US" altLang="zh-CN" sz="2000"/>
              <a:t>+</a:t>
            </a:r>
            <a:r>
              <a:rPr lang="zh-CN" altLang="en-US" sz="2000"/>
              <a:t>前</a:t>
            </a:r>
            <a:r>
              <a:rPr lang="en-US" altLang="zh-CN" sz="2000"/>
              <a:t>100</a:t>
            </a:r>
            <a:r>
              <a:rPr lang="zh-CN" altLang="en-US" sz="2000"/>
              <a:t>字</a:t>
            </a:r>
            <a:r>
              <a:rPr lang="en-US" altLang="zh-CN" sz="2000"/>
              <a:t>+20</a:t>
            </a:r>
            <a:r>
              <a:rPr lang="zh-CN" altLang="en-US" sz="2000"/>
              <a:t>以内加减法
每天</a:t>
            </a:r>
            <a:r>
              <a:rPr lang="en-US" altLang="zh-CN" sz="2000"/>
              <a:t>15</a:t>
            </a:r>
            <a:r>
              <a:rPr lang="zh-CN" altLang="en-US" sz="2000"/>
              <a:t>分钟，开开心心学语文！</a:t>
            </a:r>
          </a:p>
        </p:txBody>
      </p:sp>
    </p:spTree>
    <p:extLst>
      <p:ext uri="{BB962C8B-B14F-4D97-AF65-F5344CB8AC3E}">
        <p14:creationId xmlns:p14="http://schemas.microsoft.com/office/powerpoint/2010/main" val="281314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</Words>
  <Application>Microsoft Office PowerPoint</Application>
  <PresentationFormat>宽屏</PresentationFormat>
  <Paragraphs>99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人教版（2024版）一年级上册</vt:lpstr>
      <vt:lpstr>语文 · 13周计划</vt:lpstr>
      <vt:lpstr>数学 · 核心单元</vt:lpstr>
      <vt:lpstr>数学 · 拓展延伸</vt:lpstr>
      <vt:lpstr>每日学习安排</vt:lpstr>
      <vt:lpstr>每天进步一点点！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qinlei yang</dc:creator>
  <cp:lastModifiedBy>qinlei yang</cp:lastModifiedBy>
  <cp:revision>1</cp:revision>
  <dcterms:created xsi:type="dcterms:W3CDTF">2026-06-28T06:21:12Z</dcterms:created>
  <dcterms:modified xsi:type="dcterms:W3CDTF">2026-06-28T06:21:12Z</dcterms:modified>
</cp:coreProperties>
</file>